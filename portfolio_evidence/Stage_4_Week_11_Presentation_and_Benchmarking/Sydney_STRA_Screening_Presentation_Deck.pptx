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17,741 figure when the student says "We analysed 17,741 active listings across Sydney."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16" y="1109845"/>
            <a:ext cx="10566533" cy="446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16" y="1861569"/>
            <a:ext cx="10566484" cy="4183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16" y="1109845"/>
            <a:ext cx="10566533" cy="446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16" y="1861569"/>
            <a:ext cx="10566484" cy="4183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10883529" cy="23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1 · THE FIRST CLUES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78420"/>
            <a:ext cx="9156700" cy="628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0" i="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housing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16" y="1934239"/>
            <a:ext cx="7194550" cy="59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team member searching for affordable rent noticed an entire apartment nearby, sitting on Airbnb with many open dates. That's where the investigation started.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891" y="4071407"/>
            <a:ext cx="5124489" cy="1970649"/>
          </a:xfrm>
          <a:prstGeom prst="roundRect">
            <a:avLst>
              <a:gd name="adj" fmla="val 6283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104" y="4378620"/>
            <a:ext cx="4645365" cy="807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D9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123104" y="5236994"/>
            <a:ext cx="4645365" cy="52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per night — the apartment that prompted the investigation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1498" y="4071407"/>
            <a:ext cx="5124576" cy="1970649"/>
          </a:xfrm>
          <a:prstGeom prst="roundRect">
            <a:avLst>
              <a:gd name="adj" fmla="val 6283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8711" y="4378620"/>
            <a:ext cx="4645455" cy="807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E8D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17,741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58711" y="5236994"/>
            <a:ext cx="4645455" cy="27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active Sydney listings in the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B8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1 · THE FIRST CLUES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5"/>
            <a:ext cx="10883529" cy="47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first clue fails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891" y="1813874"/>
            <a:ext cx="5149952" cy="3539886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104" y="3052952"/>
            <a:ext cx="4671592" cy="736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23104" y="3865756"/>
            <a:ext cx="4671592" cy="27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14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listings with missing licence information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26122" y="1813874"/>
            <a:ext cx="5149952" cy="3539886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3335" y="2928446"/>
            <a:ext cx="4671592" cy="736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B8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33335" y="3741249"/>
            <a:ext cx="4671592" cy="52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14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of those required stays of 90+ nights — probably long-term lets, not the short-stay pattern we were testing for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716" y="5610864"/>
            <a:ext cx="10883529" cy="256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8A857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One red flag on its own told us nothing.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B8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2 · WHEN THE OBVIOUS CLUES FAIL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5"/>
            <a:ext cx="10883529" cy="47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An open calendar doesn't mean a booking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9377" y="2828086"/>
            <a:ext cx="1831286" cy="558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5514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Calendars open &gt;180 days</a:t>
            </a:r>
            <a:endParaRPr lang="en-US" sz="1500" dirty="0"/>
          </a:p>
        </p:txBody>
      </p:sp>
      <p:pic>
        <p:nvPicPr>
          <p:cNvPr id="5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93842" y="2866192"/>
            <a:ext cx="6222947" cy="457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19968" y="2934768"/>
            <a:ext cx="686559" cy="34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5,763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9377" y="3539300"/>
            <a:ext cx="1831286" cy="8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5514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Estimated occupancy &gt;180 nights</a:t>
            </a:r>
            <a:endParaRPr lang="en-US" sz="1500" dirty="0"/>
          </a:p>
        </p:txBody>
      </p:sp>
      <p:pic>
        <p:nvPicPr>
          <p:cNvPr id="8" name="Image 1" descr="rect">    </p:cNvPr>
          <p:cNvPicPr>
            <a:picLocks noChangeAspect="1"/>
          </p:cNvPicPr>
          <p:nvPr/>
        </p:nvPicPr>
        <p:blipFill>
          <a:blip r:embed="rId2"/>
          <a:srcRect l="0" r="0" t="-2" b="-2"/>
          <a:stretch/>
        </p:blipFill>
        <p:spPr>
          <a:xfrm>
            <a:off x="2793842" y="3710781"/>
            <a:ext cx="1943019" cy="4571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40040" y="3779357"/>
            <a:ext cx="686559" cy="34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12716" y="5610865"/>
            <a:ext cx="10883529" cy="256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8A857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Potential availability, yes — but not a confirmed booking.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B8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2 · WHEN THE OBVIOUS CLUES FAIL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5"/>
            <a:ext cx="10883529" cy="47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Exemption status isn't enough either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31965" y="1551853"/>
            <a:ext cx="8127947" cy="406393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</p:sp>
      <p:pic>
        <p:nvPicPr>
          <p:cNvPr id="5" name="Image 0" descr="Bar chart: among 149 hosts with both listing types, their PID-STRA listings had calendars open past 180 days 50.1% of the time, versus 32.3% for their self-declared exempt listing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4900" y="1558203"/>
            <a:ext cx="6842077" cy="40512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5140" y="1555028"/>
            <a:ext cx="8121597" cy="4057580"/>
          </a:xfrm>
          <a:prstGeom prst="roundRect">
            <a:avLst>
              <a:gd name="adj" fmla="val 3052"/>
            </a:avLst>
          </a:prstGeom>
          <a:noFill/>
          <a:ln w="6350">
            <a:solidFill>
              <a:srgbClr val="E3DD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716" y="5610864"/>
            <a:ext cx="10883529" cy="256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8A857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Exempt listings were actually less likely to be booked out — not more.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7870487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D9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3 · THE AHA MOMENT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5"/>
            <a:ext cx="9169499" cy="47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17,741 listings to 726 priority listings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4158" y="1737658"/>
            <a:ext cx="6343650" cy="755615"/>
          </a:xfrm>
          <a:prstGeom prst="roundRect">
            <a:avLst>
              <a:gd name="adj" fmla="val 13026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83179" y="1809471"/>
            <a:ext cx="1025518" cy="41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D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17,741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510258" y="2225926"/>
            <a:ext cx="117144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Starting dataset</a:t>
            </a:r>
            <a:endParaRPr lang="en-US" sz="1100" dirty="0"/>
          </a:p>
        </p:txBody>
      </p:sp>
      <p:pic>
        <p:nvPicPr>
          <p:cNvPr id="7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9018" y="2674165"/>
            <a:ext cx="253930" cy="2539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9158" y="3108985"/>
            <a:ext cx="7613650" cy="1015515"/>
          </a:xfrm>
          <a:prstGeom prst="roundRect">
            <a:avLst>
              <a:gd name="adj" fmla="val 9692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47723" y="3289145"/>
            <a:ext cx="2296431" cy="23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screening conditions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491382" y="3553262"/>
            <a:ext cx="7209201" cy="41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Entire homes, stays under 21 nights · Self-declared exemption · Calendar open &gt;180 days · Multiple listings per host</a:t>
            </a:r>
            <a:endParaRPr lang="en-US" sz="1100" dirty="0"/>
          </a:p>
        </p:txBody>
      </p:sp>
      <p:pic>
        <p:nvPicPr>
          <p:cNvPr id="11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18" y="4305393"/>
            <a:ext cx="253930" cy="25393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19195" y="4737038"/>
            <a:ext cx="3153488" cy="1005709"/>
          </a:xfrm>
          <a:prstGeom prst="roundRect">
            <a:avLst>
              <a:gd name="adj" fmla="val 10102"/>
            </a:avLst>
          </a:prstGeom>
          <a:solidFill>
            <a:srgbClr val="D98A6B"/>
          </a:solidFill>
          <a:ln/>
        </p:spPr>
      </p:sp>
      <p:sp>
        <p:nvSpPr>
          <p:cNvPr id="13" name="Text 9"/>
          <p:cNvSpPr/>
          <p:nvPr/>
        </p:nvSpPr>
        <p:spPr>
          <a:xfrm>
            <a:off x="5765356" y="4889379"/>
            <a:ext cx="661166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726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925552" y="5377042"/>
            <a:ext cx="2747130" cy="23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2A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Priority listings linked to 201 hosts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B8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3 · THE AHA MOMENT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5"/>
            <a:ext cx="10883529" cy="47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Twenty hosts, 289 listings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50982" y="1692777"/>
            <a:ext cx="8890000" cy="4190983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pic>
        <p:nvPicPr>
          <p:cNvPr id="5" name="Image 0" descr="Twenty operators cover 40 percent of the priority listings: the top 20 of 201 host accounts (10%) are linked to 289 of 726 priority listings (39.8%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32" y="1720340"/>
            <a:ext cx="8877300" cy="4135856"/>
          </a:xfrm>
          <a:custGeom>
            <a:avLst/>
            <a:gdLst/>
            <a:ahLst/>
            <a:cxnLst/>
            <a:rect l="l" t="t" r="r" b="b"/>
            <a:pathLst>
              <a:path w="8877300" h="4135856">
                <a:moveTo>
                  <a:pt x="0" y="99437"/>
                </a:moveTo>
                <a:arcTo wR="120650" hR="120650" stAng="10800000" swAng="3330302"/>
                <a:lnTo>
                  <a:pt x="8824978" y="0"/>
                </a:lnTo>
                <a:arcTo wR="120650" hR="120650" stAng="18269698" swAng="3330302"/>
                <a:lnTo>
                  <a:pt x="8877300" y="4036419"/>
                </a:lnTo>
                <a:arcTo wR="120650" hR="120650" stAng="0" swAng="3330302"/>
                <a:lnTo>
                  <a:pt x="52322" y="4135856"/>
                </a:lnTo>
                <a:arcTo wR="120650" hR="120650" stAng="7469698" swAng="3330302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1654157" y="1695952"/>
            <a:ext cx="8883650" cy="4184633"/>
          </a:xfrm>
          <a:prstGeom prst="roundRect">
            <a:avLst>
              <a:gd name="adj" fmla="val 2959"/>
            </a:avLst>
          </a:prstGeom>
          <a:noFill/>
          <a:ln w="6350">
            <a:solidFill>
              <a:srgbClr val="E3DDD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D9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4 · THE DASHBOARD AND DECISION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5"/>
            <a:ext cx="10883529" cy="47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Where should the council look first?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891" y="1737661"/>
            <a:ext cx="2523816" cy="984959"/>
          </a:xfrm>
          <a:prstGeom prst="roundRect">
            <a:avLst>
              <a:gd name="adj" fmla="val 9993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051" y="1917821"/>
            <a:ext cx="2228401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Total listings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051" y="2151379"/>
            <a:ext cx="2228401" cy="41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17,741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98397" y="1737661"/>
            <a:ext cx="2523904" cy="984959"/>
          </a:xfrm>
          <a:prstGeom prst="roundRect">
            <a:avLst>
              <a:gd name="adj" fmla="val 9993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8557" y="1917821"/>
            <a:ext cx="2228491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Priority listings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78557" y="2151379"/>
            <a:ext cx="2228491" cy="41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D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726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80991" y="1737661"/>
            <a:ext cx="2523816" cy="984959"/>
          </a:xfrm>
          <a:prstGeom prst="roundRect">
            <a:avLst>
              <a:gd name="adj" fmla="val 9993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1151" y="1917821"/>
            <a:ext cx="2228401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3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Priority hosts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61151" y="2151379"/>
            <a:ext cx="2228401" cy="41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860322" y="1734486"/>
            <a:ext cx="2518927" cy="991309"/>
          </a:xfrm>
          <a:prstGeom prst="roundRect">
            <a:avLst>
              <a:gd name="adj" fmla="val 10249"/>
            </a:avLst>
          </a:prstGeom>
          <a:solidFill>
            <a:srgbClr val="D98A6B"/>
          </a:solidFill>
          <a:ln/>
        </p:spPr>
      </p:sp>
      <p:sp>
        <p:nvSpPr>
          <p:cNvPr id="14" name="Text 12"/>
          <p:cNvSpPr/>
          <p:nvPr/>
        </p:nvSpPr>
        <p:spPr>
          <a:xfrm>
            <a:off x="9038038" y="1912200"/>
            <a:ext cx="2228401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A2A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Top cluster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38038" y="2145760"/>
            <a:ext cx="2228401" cy="41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hosts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5891" y="2906685"/>
            <a:ext cx="2660615" cy="2558850"/>
          </a:xfrm>
          <a:prstGeom prst="roundRect">
            <a:avLst>
              <a:gd name="adj" fmla="val 3846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051" y="3086844"/>
            <a:ext cx="2369303" cy="23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051" y="3389068"/>
            <a:ext cx="2369303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LGA</a:t>
            </a:r>
            <a:endParaRPr lang="en-US" sz="1100" dirty="0"/>
          </a:p>
        </p:txBody>
      </p:sp>
      <p:pic>
        <p:nvPicPr>
          <p:cNvPr id="19" name="Image 0" descr="line">    </p:cNvPr>
          <p:cNvPicPr>
            <a:picLocks noChangeAspect="1"/>
          </p:cNvPicPr>
          <p:nvPr/>
        </p:nvPicPr>
        <p:blipFill>
          <a:blip r:embed="rId1"/>
          <a:srcRect l="-31" r="-31" t="0" b="0"/>
          <a:stretch/>
        </p:blipFill>
        <p:spPr>
          <a:xfrm>
            <a:off x="996051" y="3673466"/>
            <a:ext cx="2300294" cy="63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96051" y="3768644"/>
            <a:ext cx="2369303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Licence status</a:t>
            </a:r>
            <a:endParaRPr lang="en-US" sz="1100" dirty="0"/>
          </a:p>
        </p:txBody>
      </p:sp>
      <p:pic>
        <p:nvPicPr>
          <p:cNvPr id="21" name="Image 1" descr="line">    </p:cNvPr>
          <p:cNvPicPr>
            <a:picLocks noChangeAspect="1"/>
          </p:cNvPicPr>
          <p:nvPr/>
        </p:nvPicPr>
        <p:blipFill>
          <a:blip r:embed="rId2"/>
          <a:srcRect l="-31" r="-31" t="0" b="0"/>
          <a:stretch/>
        </p:blipFill>
        <p:spPr>
          <a:xfrm>
            <a:off x="996051" y="4053043"/>
            <a:ext cx="2300294" cy="63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96051" y="4148221"/>
            <a:ext cx="2369303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Availability</a:t>
            </a:r>
            <a:endParaRPr lang="en-US" sz="1100" dirty="0"/>
          </a:p>
        </p:txBody>
      </p:sp>
      <p:pic>
        <p:nvPicPr>
          <p:cNvPr id="23" name="Image 2" descr="line">    </p:cNvPr>
          <p:cNvPicPr>
            <a:picLocks noChangeAspect="1"/>
          </p:cNvPicPr>
          <p:nvPr/>
        </p:nvPicPr>
        <p:blipFill>
          <a:blip r:embed="rId3"/>
          <a:srcRect l="-31" r="-31" t="0" b="0"/>
          <a:stretch/>
        </p:blipFill>
        <p:spPr>
          <a:xfrm>
            <a:off x="996051" y="4432619"/>
            <a:ext cx="2300294" cy="63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96051" y="4527801"/>
            <a:ext cx="2369303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Host scale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635196" y="2906685"/>
            <a:ext cx="7740879" cy="2558850"/>
          </a:xfrm>
          <a:prstGeom prst="roundRect">
            <a:avLst>
              <a:gd name="adj" fmla="val 3846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815356" y="3086844"/>
            <a:ext cx="7601975" cy="23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host accounts, ranked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26595" y="3387575"/>
          <a:ext cx="7369319" cy="1233122"/>
        </p:xfrm>
        <a:graphic>
          <a:graphicData uri="http://schemas.openxmlformats.org/drawingml/2006/table">
            <a:tbl>
              <a:tblPr/>
              <a:tblGrid>
                <a:gridCol w="2456440"/>
                <a:gridCol w="2456440"/>
                <a:gridCol w="2456440"/>
              </a:tblGrid>
              <a:tr h="30828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8A93A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Host ID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8A93A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Linked listings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8A93A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LGA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E4B"/>
                    </a:solidFill>
                  </a:tcPr>
                </a:tc>
              </a:tr>
              <a:tr h="30828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HOST-8931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24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Sydney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6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28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HOST-4512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19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Randwick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281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HOST-1077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C7CBD1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Parramatta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0" marT="50800" marB="50800" anchor="t">
                    <a:lnL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B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2"/>
          <p:cNvSpPr/>
          <p:nvPr/>
        </p:nvSpPr>
        <p:spPr>
          <a:xfrm>
            <a:off x="812716" y="5646424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8A93A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Stylised mock-up — swap in your real dashboard screenshot before presenting.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6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B8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4 · THE DASHBOARD AND DECISION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5"/>
            <a:ext cx="10883529" cy="44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citywide patterns to a local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16" y="1681187"/>
            <a:ext cx="5194409" cy="4190983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pic>
        <p:nvPicPr>
          <p:cNvPr id="5" name="Image 0" descr="Bar chart: share of short-stay entire homes operated by multi-listing hosts, by LGA, ranging from 85.2% in Auburn to 68.7% in Campbelltow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066" y="2049442"/>
            <a:ext cx="5181709" cy="345447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891" y="1684362"/>
            <a:ext cx="5188059" cy="4184633"/>
          </a:xfrm>
          <a:prstGeom prst="roundRect">
            <a:avLst>
              <a:gd name="adj" fmla="val 2959"/>
            </a:avLst>
          </a:prstGeom>
          <a:noFill/>
          <a:ln w="6350">
            <a:solidFill>
              <a:srgbClr val="E3DD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84840" y="1681187"/>
            <a:ext cx="5194409" cy="4190983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pic>
        <p:nvPicPr>
          <p:cNvPr id="8" name="Image 1" descr="Map of Sydney showing the geographic distribution of single-listing and multi-listing commercial host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3" y="1687537"/>
            <a:ext cx="4178283" cy="417828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88015" y="1684362"/>
            <a:ext cx="5188059" cy="4184633"/>
          </a:xfrm>
          <a:prstGeom prst="roundRect">
            <a:avLst>
              <a:gd name="adj" fmla="val 2959"/>
            </a:avLst>
          </a:prstGeom>
          <a:noFill/>
          <a:ln w="6350">
            <a:solidFill>
              <a:srgbClr val="E3DDD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6" y="812719"/>
            <a:ext cx="10883529" cy="22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D9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5 · FINAL TAKEAWAY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16" y="1109849"/>
            <a:ext cx="10883529" cy="44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0" i="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practical starting 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891" y="2454318"/>
            <a:ext cx="3350229" cy="1485531"/>
          </a:xfrm>
          <a:prstGeom prst="roundRect">
            <a:avLst>
              <a:gd name="adj" fmla="val 8335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85868" y="2736155"/>
            <a:ext cx="610274" cy="665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8D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11313" y="3426910"/>
            <a:ext cx="1759386" cy="256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Hosts to review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26400" y="2454318"/>
            <a:ext cx="3350317" cy="1485531"/>
          </a:xfrm>
          <a:prstGeom prst="roundRect">
            <a:avLst>
              <a:gd name="adj" fmla="val 8335"/>
            </a:avLst>
          </a:prstGeom>
          <a:solidFill>
            <a:srgbClr val="242E3C"/>
          </a:solidFill>
          <a:ln w="6350">
            <a:solidFill>
              <a:srgbClr val="3A4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43808" y="2736155"/>
            <a:ext cx="915412" cy="665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8D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101275" y="3426910"/>
            <a:ext cx="2000566" cy="256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Linked priority listings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33821" y="2451143"/>
            <a:ext cx="3345428" cy="1491881"/>
          </a:xfrm>
          <a:prstGeom prst="roundRect">
            <a:avLst>
              <a:gd name="adj" fmla="val 8513"/>
            </a:avLst>
          </a:prstGeom>
          <a:solidFill>
            <a:srgbClr val="D98A6B"/>
          </a:solidFill>
          <a:ln/>
        </p:spPr>
      </p:sp>
      <p:sp>
        <p:nvSpPr>
          <p:cNvPr id="11" name="Text 9"/>
          <p:cNvSpPr/>
          <p:nvPr/>
        </p:nvSpPr>
        <p:spPr>
          <a:xfrm>
            <a:off x="9353721" y="2905001"/>
            <a:ext cx="705630" cy="327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40943" y="3257978"/>
            <a:ext cx="2531185" cy="256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2A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against official STRA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16" y="4865322"/>
            <a:ext cx="10566533" cy="1179913"/>
          </a:xfrm>
          <a:prstGeom prst="rect">
            <a:avLst/>
          </a:prstGeom>
          <a:solidFill>
            <a:srgbClr val="242E3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16" y="4874847"/>
            <a:ext cx="10566533" cy="0"/>
          </a:xfrm>
          <a:prstGeom prst="line">
            <a:avLst/>
          </a:prstGeom>
          <a:noFill/>
          <a:ln w="19050">
            <a:solidFill>
              <a:srgbClr val="D98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29045" y="5136108"/>
            <a:ext cx="4333875" cy="327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doesn't decide who's guilty.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997638" y="5489079"/>
            <a:ext cx="4196690" cy="327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7CBD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It helps us decide where to look first.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dney STRA Screening — Live Role-Play Deck">
  <a:themeElements>
    <a:clrScheme name="Sydney STRA Screening — Live Role-Play Deck">
      <a:dk1>
        <a:srgbClr val="1A1A1A"/>
      </a:dk1>
      <a:lt1>
        <a:srgbClr val="FAF8F3"/>
      </a:lt1>
      <a:dk2>
        <a:srgbClr val="525250"/>
      </a:dk2>
      <a:lt2>
        <a:srgbClr val="E4E2DD"/>
      </a:lt2>
      <a:accent1>
        <a:srgbClr val="D98A6B"/>
      </a:accent1>
      <a:accent2>
        <a:srgbClr val="B8502F"/>
      </a:accent2>
      <a:accent3>
        <a:srgbClr val="E8D5A8"/>
      </a:accent3>
      <a:accent4>
        <a:srgbClr val="C7CBD1"/>
      </a:accent4>
      <a:accent5>
        <a:srgbClr val="242E3C"/>
      </a:accent5>
      <a:accent6>
        <a:srgbClr val="555148"/>
      </a:accent6>
      <a:hlink>
        <a:srgbClr val="0563C1"/>
      </a:hlink>
      <a:folHlink>
        <a:srgbClr val="954F72"/>
      </a:folHlink>
    </a:clrScheme>
    <a:fontScheme name="Sydney STRA Screening — Live Role-Play Dec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Sydney STRA Screening — Live Role-Play Deck</dc:title>
  <dc:subject/>
  <dc:creator/>
  <cp:lastModifiedBy/>
  <cp:revision>1</cp:revision>
  <dcterms:created xsi:type="dcterms:W3CDTF">2026-10-10T07:36:21Z</dcterms:created>
  <dcterms:modified xsi:type="dcterms:W3CDTF">2026-10-10T07:36:21Z</dcterms:modified>
</cp:coreProperties>
</file>